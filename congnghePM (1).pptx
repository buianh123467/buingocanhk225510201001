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71" r:id="rId10"/>
    <p:sldId id="272" r:id="rId11"/>
    <p:sldId id="273" r:id="rId12"/>
    <p:sldId id="264" r:id="rId13"/>
    <p:sldId id="265" r:id="rId14"/>
    <p:sldId id="266" r:id="rId15"/>
    <p:sldId id="267" r:id="rId16"/>
    <p:sldId id="268" r:id="rId17"/>
    <p:sldId id="269" r:id="rId18"/>
    <p:sldId id="270"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4BFE420-95DE-491B-B96E-EC1F348335EC}"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2052016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FE420-95DE-491B-B96E-EC1F348335EC}"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153931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BFE420-95DE-491B-B96E-EC1F348335EC}"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4237462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4BFE420-95DE-491B-B96E-EC1F348335EC}"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2323131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BFE420-95DE-491B-B96E-EC1F348335EC}"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3958521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4BFE420-95DE-491B-B96E-EC1F348335EC}"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67391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BFE420-95DE-491B-B96E-EC1F348335EC}"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4128256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BFE420-95DE-491B-B96E-EC1F348335EC}"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3570158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BFE420-95DE-491B-B96E-EC1F348335EC}"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3690344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FE420-95DE-491B-B96E-EC1F348335EC}"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269834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FE420-95DE-491B-B96E-EC1F348335EC}"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DBDC8-3EE1-4EE7-8F4A-398F6D0682FB}" type="slidenum">
              <a:rPr lang="en-US" smtClean="0"/>
              <a:t>‹#›</a:t>
            </a:fld>
            <a:endParaRPr lang="en-US"/>
          </a:p>
        </p:txBody>
      </p:sp>
    </p:spTree>
    <p:extLst>
      <p:ext uri="{BB962C8B-B14F-4D97-AF65-F5344CB8AC3E}">
        <p14:creationId xmlns:p14="http://schemas.microsoft.com/office/powerpoint/2010/main" val="318838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FE420-95DE-491B-B96E-EC1F348335EC}" type="datetimeFigureOut">
              <a:rPr lang="en-US" smtClean="0"/>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DBDC8-3EE1-4EE7-8F4A-398F6D0682FB}" type="slidenum">
              <a:rPr lang="en-US" smtClean="0"/>
              <a:t>‹#›</a:t>
            </a:fld>
            <a:endParaRPr lang="en-US"/>
          </a:p>
        </p:txBody>
      </p:sp>
    </p:spTree>
    <p:extLst>
      <p:ext uri="{BB962C8B-B14F-4D97-AF65-F5344CB8AC3E}">
        <p14:creationId xmlns:p14="http://schemas.microsoft.com/office/powerpoint/2010/main" val="322884146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br>
              <a:rPr lang="vi-VN" dirty="0"/>
            </a:br>
            <a:endParaRPr lang="en-US" dirty="0"/>
          </a:p>
        </p:txBody>
      </p:sp>
      <p:sp>
        <p:nvSpPr>
          <p:cNvPr id="3" name="Subtitle 2"/>
          <p:cNvSpPr>
            <a:spLocks noGrp="1"/>
          </p:cNvSpPr>
          <p:nvPr>
            <p:ph type="subTitle" idx="1"/>
          </p:nvPr>
        </p:nvSpPr>
        <p:spPr>
          <a:xfrm>
            <a:off x="1299592" y="3212976"/>
            <a:ext cx="6400800" cy="1752600"/>
          </a:xfrm>
        </p:spPr>
        <p:txBody>
          <a:bodyPr>
            <a:normAutofit/>
          </a:bodyPr>
          <a:lstStyle/>
          <a:p>
            <a:r>
              <a:rPr lang="vi-VN" sz="3200" b="0" i="1" dirty="0"/>
              <a:t>Đồ án môn Công nghệ phần mềm</a:t>
            </a:r>
          </a:p>
          <a:p>
            <a:r>
              <a:rPr lang="vi-VN" sz="2000" b="0" i="1" dirty="0"/>
              <a:t>Đề tài :ỨNG DỤNG HỖ TRỢ TÌM GIA SƯ THEO MÔN HỌC CHO SINH VIÊN </a:t>
            </a:r>
            <a:endParaRPr lang="vi-VN" sz="2000" i="1" dirty="0"/>
          </a:p>
          <a:p>
            <a:endParaRPr lang="vi-VN" sz="1800" b="0" i="1" dirty="0"/>
          </a:p>
          <a:p>
            <a:endParaRPr lang="vi-VN" sz="2000" i="1" dirty="0"/>
          </a:p>
          <a:p>
            <a:endParaRPr lang="en-US" sz="2000" b="0" i="1" dirty="0"/>
          </a:p>
        </p:txBody>
      </p:sp>
      <p:pic>
        <p:nvPicPr>
          <p:cNvPr id="4" name="Picture 3"/>
          <p:cNvPicPr>
            <a:picLocks noChangeAspect="1"/>
          </p:cNvPicPr>
          <p:nvPr/>
        </p:nvPicPr>
        <p:blipFill>
          <a:blip r:embed="rId2"/>
          <a:stretch>
            <a:fillRect/>
          </a:stretch>
        </p:blipFill>
        <p:spPr>
          <a:xfrm>
            <a:off x="3275856" y="188640"/>
            <a:ext cx="2448272" cy="2448272"/>
          </a:xfrm>
          <a:prstGeom prst="rect">
            <a:avLst/>
          </a:prstGeom>
        </p:spPr>
      </p:pic>
    </p:spTree>
    <p:extLst>
      <p:ext uri="{BB962C8B-B14F-4D97-AF65-F5344CB8AC3E}">
        <p14:creationId xmlns:p14="http://schemas.microsoft.com/office/powerpoint/2010/main" val="1596670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16315032"/>
              </p:ext>
            </p:extLst>
          </p:nvPr>
        </p:nvGraphicFramePr>
        <p:xfrm>
          <a:off x="1259632" y="1196753"/>
          <a:ext cx="6264696" cy="3445215"/>
        </p:xfrm>
        <a:graphic>
          <a:graphicData uri="http://schemas.openxmlformats.org/drawingml/2006/table">
            <a:tbl>
              <a:tblPr/>
              <a:tblGrid>
                <a:gridCol w="3014513">
                  <a:extLst>
                    <a:ext uri="{9D8B030D-6E8A-4147-A177-3AD203B41FA5}">
                      <a16:colId xmlns:a16="http://schemas.microsoft.com/office/drawing/2014/main" val="20000"/>
                    </a:ext>
                  </a:extLst>
                </a:gridCol>
                <a:gridCol w="228529">
                  <a:extLst>
                    <a:ext uri="{9D8B030D-6E8A-4147-A177-3AD203B41FA5}">
                      <a16:colId xmlns:a16="http://schemas.microsoft.com/office/drawing/2014/main" val="20001"/>
                    </a:ext>
                  </a:extLst>
                </a:gridCol>
                <a:gridCol w="3021654">
                  <a:extLst>
                    <a:ext uri="{9D8B030D-6E8A-4147-A177-3AD203B41FA5}">
                      <a16:colId xmlns:a16="http://schemas.microsoft.com/office/drawing/2014/main" val="20002"/>
                    </a:ext>
                  </a:extLst>
                </a:gridCol>
              </a:tblGrid>
              <a:tr h="1012155">
                <a:tc>
                  <a:txBody>
                    <a:bodyPr/>
                    <a:lstStyle/>
                    <a:p>
                      <a:pPr algn="l">
                        <a:lnSpc>
                          <a:spcPct val="150000"/>
                        </a:lnSpc>
                        <a:spcAft>
                          <a:spcPts val="0"/>
                        </a:spcAft>
                        <a:tabLst>
                          <a:tab pos="3657600" algn="ctr"/>
                        </a:tabLst>
                      </a:pPr>
                      <a:r>
                        <a:rPr lang="en-US" sz="2000" b="1" dirty="0">
                          <a:effectLst/>
                          <a:latin typeface="Times New Roman"/>
                          <a:ea typeface="SimSun"/>
                          <a:cs typeface="Times New Roman"/>
                        </a:rPr>
                        <a:t>GIÁO VIÊN HƯỚNG DẪN</a:t>
                      </a:r>
                      <a:endParaRPr lang="vi-VN" sz="2000" b="1" dirty="0">
                        <a:effectLst/>
                        <a:latin typeface="Times New Roman"/>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dirty="0">
                          <a:effectLst/>
                          <a:latin typeface="Times New Roman"/>
                          <a:ea typeface="SimSun"/>
                          <a:cs typeface="Times New Roman"/>
                        </a:rPr>
                        <a:t>:</a:t>
                      </a:r>
                      <a:endParaRPr lang="en-US" sz="2000" dirty="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dirty="0" err="1">
                          <a:effectLst/>
                          <a:latin typeface="Times New Roman"/>
                          <a:ea typeface="SimSun"/>
                          <a:cs typeface="Times New Roman"/>
                        </a:rPr>
                        <a:t>ThS</a:t>
                      </a:r>
                      <a:r>
                        <a:rPr lang="en-US" sz="2000" b="1" dirty="0">
                          <a:effectLst/>
                          <a:latin typeface="Times New Roman"/>
                          <a:ea typeface="SimSun"/>
                          <a:cs typeface="Times New Roman"/>
                        </a:rPr>
                        <a:t>.</a:t>
                      </a:r>
                      <a:r>
                        <a:rPr lang="vi-VN" sz="2000" b="1" dirty="0">
                          <a:effectLst/>
                          <a:latin typeface="Times New Roman"/>
                          <a:ea typeface="SimSun"/>
                          <a:cs typeface="Times New Roman"/>
                        </a:rPr>
                        <a:t>NGUYỄNTHỊ HƯƠNG</a:t>
                      </a:r>
                      <a:endParaRPr lang="en-US" sz="2000" dirty="0">
                        <a:effectLst/>
                        <a:latin typeface=".VnTime"/>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r h="473635">
                <a:tc>
                  <a:txBody>
                    <a:bodyPr/>
                    <a:lstStyle/>
                    <a:p>
                      <a:pPr algn="l">
                        <a:lnSpc>
                          <a:spcPct val="150000"/>
                        </a:lnSpc>
                        <a:spcAft>
                          <a:spcPts val="0"/>
                        </a:spcAft>
                        <a:tabLst>
                          <a:tab pos="3657600" algn="ctr"/>
                        </a:tabLst>
                      </a:pPr>
                      <a:r>
                        <a:rPr lang="en-US" sz="2000" b="1" dirty="0">
                          <a:effectLst/>
                          <a:latin typeface="Times New Roman"/>
                          <a:ea typeface="SimSun"/>
                          <a:cs typeface="Times New Roman"/>
                        </a:rPr>
                        <a:t>HỌ VÀ TÊN SINH VIÊN</a:t>
                      </a:r>
                      <a:endParaRPr lang="en-US" sz="2000" dirty="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a:effectLst/>
                          <a:latin typeface="Times New Roman"/>
                          <a:ea typeface="SimSun"/>
                          <a:cs typeface="Times New Roman"/>
                        </a:rPr>
                        <a:t>:</a:t>
                      </a:r>
                      <a:endParaRPr lang="en-US" sz="200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dirty="0" err="1">
                          <a:effectLst/>
                          <a:latin typeface="Times New Roman"/>
                          <a:ea typeface="SimSun"/>
                          <a:cs typeface="Times New Roman"/>
                        </a:rPr>
                        <a:t>Nguyễn</a:t>
                      </a:r>
                      <a:r>
                        <a:rPr lang="en-US" sz="2000" b="1" dirty="0">
                          <a:effectLst/>
                          <a:latin typeface="Times New Roman"/>
                          <a:ea typeface="SimSun"/>
                          <a:cs typeface="Times New Roman"/>
                        </a:rPr>
                        <a:t> </a:t>
                      </a:r>
                      <a:r>
                        <a:rPr lang="en-US" sz="2000" b="1" dirty="0" err="1">
                          <a:effectLst/>
                          <a:latin typeface="Times New Roman"/>
                          <a:ea typeface="SimSun"/>
                          <a:cs typeface="Times New Roman"/>
                        </a:rPr>
                        <a:t>Tuấn</a:t>
                      </a:r>
                      <a:r>
                        <a:rPr lang="en-US" sz="2000" b="1" dirty="0">
                          <a:effectLst/>
                          <a:latin typeface="Times New Roman"/>
                          <a:ea typeface="SimSun"/>
                          <a:cs typeface="Times New Roman"/>
                        </a:rPr>
                        <a:t> </a:t>
                      </a:r>
                      <a:r>
                        <a:rPr lang="en-US" sz="2000" b="1" dirty="0" err="1">
                          <a:effectLst/>
                          <a:latin typeface="Times New Roman"/>
                          <a:ea typeface="SimSun"/>
                          <a:cs typeface="Times New Roman"/>
                        </a:rPr>
                        <a:t>Anh</a:t>
                      </a:r>
                      <a:endParaRPr lang="en-US" sz="2000" dirty="0">
                        <a:effectLst/>
                        <a:latin typeface=".VnTime"/>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473635">
                <a:tc>
                  <a:txBody>
                    <a:bodyPr/>
                    <a:lstStyle/>
                    <a:p>
                      <a:pPr algn="l">
                        <a:lnSpc>
                          <a:spcPct val="150000"/>
                        </a:lnSpc>
                        <a:spcAft>
                          <a:spcPts val="0"/>
                        </a:spcAft>
                        <a:tabLst>
                          <a:tab pos="3657600" algn="ctr"/>
                        </a:tabLst>
                      </a:pPr>
                      <a:r>
                        <a:rPr lang="en-US" sz="2000" b="1" dirty="0">
                          <a:effectLst/>
                          <a:latin typeface="Times New Roman"/>
                          <a:ea typeface="SimSun"/>
                          <a:cs typeface="Times New Roman"/>
                        </a:rPr>
                        <a:t>MSSV</a:t>
                      </a:r>
                      <a:endParaRPr lang="en-US" sz="2000" dirty="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a:effectLst/>
                          <a:latin typeface="Times New Roman"/>
                          <a:ea typeface="SimSun"/>
                          <a:cs typeface="Times New Roman"/>
                        </a:rPr>
                        <a:t>:</a:t>
                      </a:r>
                      <a:endParaRPr lang="en-US" sz="200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dirty="0">
                          <a:effectLst/>
                          <a:latin typeface="Times New Roman"/>
                          <a:ea typeface="SimSun"/>
                          <a:cs typeface="Times New Roman"/>
                        </a:rPr>
                        <a:t>K225480106002</a:t>
                      </a:r>
                      <a:endParaRPr lang="en-US" sz="2000" dirty="0">
                        <a:effectLst/>
                        <a:latin typeface=".VnTime"/>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473635">
                <a:tc>
                  <a:txBody>
                    <a:bodyPr/>
                    <a:lstStyle/>
                    <a:p>
                      <a:pPr algn="l">
                        <a:lnSpc>
                          <a:spcPct val="150000"/>
                        </a:lnSpc>
                        <a:spcAft>
                          <a:spcPts val="0"/>
                        </a:spcAft>
                        <a:tabLst>
                          <a:tab pos="3657600" algn="ctr"/>
                        </a:tabLst>
                      </a:pPr>
                      <a:r>
                        <a:rPr lang="en-US" sz="2000" b="1" dirty="0">
                          <a:effectLst/>
                          <a:latin typeface="Times New Roman"/>
                          <a:ea typeface="SimSun"/>
                          <a:cs typeface="Times New Roman"/>
                        </a:rPr>
                        <a:t>HỌ VÀ TÊN SINH VIÊN</a:t>
                      </a:r>
                      <a:endParaRPr lang="en-US" sz="2000" dirty="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dirty="0">
                          <a:effectLst/>
                          <a:latin typeface="Times New Roman"/>
                          <a:ea typeface="SimSun"/>
                          <a:cs typeface="Times New Roman"/>
                        </a:rPr>
                        <a:t>:</a:t>
                      </a:r>
                      <a:endParaRPr lang="en-US" sz="2000" dirty="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vi-VN" sz="2000" b="1" dirty="0">
                          <a:effectLst/>
                          <a:latin typeface="Times New Roman"/>
                          <a:ea typeface="SimSun"/>
                          <a:cs typeface="Times New Roman"/>
                        </a:rPr>
                        <a:t>Bùi Ngọc Anh </a:t>
                      </a:r>
                      <a:endParaRPr lang="en-US" sz="2000" dirty="0">
                        <a:effectLst/>
                        <a:latin typeface=".VnTime"/>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1012155">
                <a:tc>
                  <a:txBody>
                    <a:bodyPr/>
                    <a:lstStyle/>
                    <a:p>
                      <a:pPr algn="l">
                        <a:lnSpc>
                          <a:spcPct val="150000"/>
                        </a:lnSpc>
                        <a:spcAft>
                          <a:spcPts val="0"/>
                        </a:spcAft>
                        <a:tabLst>
                          <a:tab pos="3657600" algn="ctr"/>
                        </a:tabLst>
                      </a:pPr>
                      <a:r>
                        <a:rPr lang="en-US" sz="2000" b="1">
                          <a:effectLst/>
                          <a:latin typeface="Times New Roman"/>
                          <a:ea typeface="SimSun"/>
                          <a:cs typeface="Times New Roman"/>
                        </a:rPr>
                        <a:t>MSSV</a:t>
                      </a:r>
                      <a:endParaRPr lang="en-US" sz="200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a:effectLst/>
                          <a:latin typeface="Times New Roman"/>
                          <a:ea typeface="SimSun"/>
                          <a:cs typeface="Times New Roman"/>
                        </a:rPr>
                        <a:t>:</a:t>
                      </a:r>
                      <a:endParaRPr lang="en-US" sz="2000">
                        <a:effectLst/>
                        <a:latin typeface=".VnTime"/>
                        <a:ea typeface="SimSun"/>
                        <a:cs typeface="Times New Roman"/>
                      </a:endParaRPr>
                    </a:p>
                  </a:txBody>
                  <a:tcPr marL="68580" marR="68580" marT="0" marB="0">
                    <a:lnL>
                      <a:noFill/>
                    </a:lnL>
                    <a:lnR>
                      <a:noFill/>
                    </a:lnR>
                    <a:lnT>
                      <a:noFill/>
                    </a:lnT>
                    <a:lnB>
                      <a:noFill/>
                    </a:lnB>
                  </a:tcPr>
                </a:tc>
                <a:tc>
                  <a:txBody>
                    <a:bodyPr/>
                    <a:lstStyle/>
                    <a:p>
                      <a:pPr algn="just">
                        <a:lnSpc>
                          <a:spcPct val="150000"/>
                        </a:lnSpc>
                        <a:spcAft>
                          <a:spcPts val="0"/>
                        </a:spcAft>
                        <a:tabLst>
                          <a:tab pos="3657600" algn="ctr"/>
                        </a:tabLst>
                      </a:pPr>
                      <a:r>
                        <a:rPr lang="en-US" sz="2000" b="1" dirty="0">
                          <a:effectLst/>
                          <a:latin typeface="Times New Roman"/>
                          <a:ea typeface="SimSun"/>
                          <a:cs typeface="Times New Roman"/>
                        </a:rPr>
                        <a:t>K225510201001</a:t>
                      </a:r>
                      <a:endParaRPr lang="en-US" sz="2000" dirty="0">
                        <a:effectLst/>
                        <a:latin typeface=".VnTime"/>
                        <a:ea typeface="SimSun"/>
                        <a:cs typeface="Times New Roman"/>
                      </a:endParaRPr>
                    </a:p>
                    <a:p>
                      <a:pPr algn="just">
                        <a:lnSpc>
                          <a:spcPct val="150000"/>
                        </a:lnSpc>
                        <a:spcAft>
                          <a:spcPts val="0"/>
                        </a:spcAft>
                        <a:tabLst>
                          <a:tab pos="3657600" algn="ctr"/>
                        </a:tabLst>
                      </a:pPr>
                      <a:r>
                        <a:rPr lang="en-US" sz="2000" b="1" dirty="0">
                          <a:effectLst/>
                          <a:latin typeface="Times New Roman"/>
                          <a:ea typeface="SimSun"/>
                          <a:cs typeface="Times New Roman"/>
                        </a:rPr>
                        <a:t> </a:t>
                      </a:r>
                      <a:endParaRPr lang="en-US" sz="2000" dirty="0">
                        <a:effectLst/>
                        <a:latin typeface=".VnTime"/>
                        <a:ea typeface="SimSu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58028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effectLst/>
                <a:latin typeface="Times New Roman"/>
                <a:ea typeface="SimSun"/>
              </a:rPr>
              <a:t>Thông</a:t>
            </a:r>
            <a:r>
              <a:rPr lang="en-US" b="1" dirty="0">
                <a:effectLst/>
                <a:latin typeface="Times New Roman"/>
                <a:ea typeface="SimSun"/>
              </a:rPr>
              <a:t> tin </a:t>
            </a:r>
            <a:r>
              <a:rPr lang="en-US" b="1" dirty="0" err="1">
                <a:effectLst/>
                <a:latin typeface="Times New Roman"/>
                <a:ea typeface="SimSun"/>
              </a:rPr>
              <a:t>vào</a:t>
            </a:r>
            <a:r>
              <a:rPr lang="vi-VN" b="1" dirty="0">
                <a:effectLst/>
                <a:latin typeface="Times New Roman"/>
                <a:ea typeface="SimSun"/>
              </a:rPr>
              <a:t> của</a:t>
            </a:r>
            <a:r>
              <a:rPr lang="en-US" b="1" dirty="0">
                <a:effectLst/>
                <a:latin typeface="Times New Roman"/>
                <a:ea typeface="SimSun"/>
              </a:rPr>
              <a:t> </a:t>
            </a:r>
            <a:r>
              <a:rPr lang="en-US" b="1" dirty="0" err="1">
                <a:effectLst/>
                <a:latin typeface="Times New Roman"/>
                <a:ea typeface="SimSun"/>
              </a:rPr>
              <a:t>hệ</a:t>
            </a:r>
            <a:r>
              <a:rPr lang="en-US" b="1" dirty="0">
                <a:effectLst/>
                <a:latin typeface="Times New Roman"/>
                <a:ea typeface="SimSun"/>
              </a:rPr>
              <a:t> </a:t>
            </a:r>
            <a:r>
              <a:rPr lang="en-US" b="1" dirty="0" err="1">
                <a:effectLst/>
                <a:latin typeface="Times New Roman"/>
                <a:ea typeface="SimSun"/>
              </a:rPr>
              <a:t>thống</a:t>
            </a:r>
            <a:r>
              <a:rPr lang="en-US" b="1" dirty="0">
                <a:effectLst/>
                <a:latin typeface="Times New Roman"/>
                <a:ea typeface="SimSun"/>
              </a:rPr>
              <a:t> </a:t>
            </a:r>
            <a:r>
              <a:rPr lang="en-US" b="1" dirty="0" err="1">
                <a:effectLst/>
                <a:latin typeface="Times New Roman"/>
                <a:ea typeface="SimSun"/>
              </a:rPr>
              <a:t>thông</a:t>
            </a:r>
            <a:r>
              <a:rPr lang="en-US" b="1" dirty="0">
                <a:effectLst/>
                <a:latin typeface="Times New Roman"/>
                <a:ea typeface="SimSun"/>
              </a:rPr>
              <a:t> tin</a:t>
            </a:r>
            <a:endParaRPr lang="en-US" dirty="0"/>
          </a:p>
        </p:txBody>
      </p:sp>
      <p:sp>
        <p:nvSpPr>
          <p:cNvPr id="3" name="Content Placeholder 2"/>
          <p:cNvSpPr>
            <a:spLocks noGrp="1"/>
          </p:cNvSpPr>
          <p:nvPr>
            <p:ph idx="1"/>
          </p:nvPr>
        </p:nvSpPr>
        <p:spPr>
          <a:xfrm>
            <a:off x="395536" y="1340768"/>
            <a:ext cx="8229600" cy="5242594"/>
          </a:xfrm>
        </p:spPr>
        <p:txBody>
          <a:bodyPr/>
          <a:lstStyle/>
          <a:p>
            <a:pPr marL="0" indent="0">
              <a:buNone/>
            </a:pPr>
            <a:r>
              <a:rPr lang="vi-VN" sz="2800" dirty="0"/>
              <a:t>Là những dữ liệu được cung cấp từ phía người dùng hoặc các thực thể liên quan, đóng vai trò nền tảng để hệ thống xử lý, lưu trữ và đưa ra các kết quả đầu ra</a:t>
            </a:r>
            <a:r>
              <a:rPr lang="vi-VN" sz="4000" dirty="0"/>
              <a:t>.</a:t>
            </a:r>
          </a:p>
          <a:p>
            <a:pPr marL="0" indent="0">
              <a:buNone/>
            </a:pPr>
            <a:r>
              <a:rPr lang="vi-VN" sz="2800" b="1" dirty="0"/>
              <a:t>Thông tin người dùng (sinh viên/gia sư</a:t>
            </a:r>
            <a:r>
              <a:rPr lang="vi-VN" sz="2800" dirty="0"/>
              <a:t>) : </a:t>
            </a:r>
            <a:endParaRPr lang="en-US" sz="2800" dirty="0"/>
          </a:p>
          <a:p>
            <a:pPr marL="0" indent="0">
              <a:buNone/>
            </a:pPr>
            <a:r>
              <a:rPr lang="vi-VN" sz="2800" b="1" dirty="0"/>
              <a:t>Thông tin đăng ký dạy của gia sư :</a:t>
            </a:r>
            <a:endParaRPr lang="vi-VN" sz="2800" dirty="0"/>
          </a:p>
          <a:p>
            <a:pPr marL="0" indent="0">
              <a:buNone/>
            </a:pPr>
            <a:r>
              <a:rPr lang="vi-VN" sz="2800" b="1" dirty="0"/>
              <a:t>Thông tin đánh giá và phản hồi :</a:t>
            </a:r>
            <a:endParaRPr lang="vi-VN" sz="2800" dirty="0"/>
          </a:p>
          <a:p>
            <a:pPr marL="0" indent="0">
              <a:buNone/>
            </a:pPr>
            <a:endParaRPr lang="en-US" sz="2000" dirty="0"/>
          </a:p>
        </p:txBody>
      </p:sp>
    </p:spTree>
    <p:extLst>
      <p:ext uri="{BB962C8B-B14F-4D97-AF65-F5344CB8AC3E}">
        <p14:creationId xmlns:p14="http://schemas.microsoft.com/office/powerpoint/2010/main" val="2170817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Thông</a:t>
            </a:r>
            <a:r>
              <a:rPr lang="en-US" b="1" dirty="0"/>
              <a:t> tin </a:t>
            </a:r>
            <a:r>
              <a:rPr lang="en-US" b="1" dirty="0" err="1"/>
              <a:t>ra</a:t>
            </a:r>
            <a:r>
              <a:rPr lang="en-US" b="1" dirty="0"/>
              <a:t> </a:t>
            </a:r>
            <a:r>
              <a:rPr lang="en-US" b="1" dirty="0" err="1"/>
              <a:t>của</a:t>
            </a:r>
            <a:r>
              <a:rPr lang="en-US" b="1" dirty="0"/>
              <a:t> </a:t>
            </a:r>
            <a:r>
              <a:rPr lang="en-US" b="1" dirty="0" err="1"/>
              <a:t>hệ</a:t>
            </a:r>
            <a:r>
              <a:rPr lang="en-US" b="1" dirty="0"/>
              <a:t> </a:t>
            </a:r>
            <a:r>
              <a:rPr lang="en-US" b="1" dirty="0" err="1"/>
              <a:t>thống</a:t>
            </a:r>
            <a:r>
              <a:rPr lang="en-US" b="1" dirty="0"/>
              <a:t> </a:t>
            </a:r>
            <a:r>
              <a:rPr lang="en-US" b="1" dirty="0" err="1"/>
              <a:t>thông</a:t>
            </a:r>
            <a:r>
              <a:rPr lang="en-US" b="1" dirty="0"/>
              <a:t> tin </a:t>
            </a:r>
          </a:p>
        </p:txBody>
      </p:sp>
      <p:sp>
        <p:nvSpPr>
          <p:cNvPr id="3" name="Content Placeholder 2"/>
          <p:cNvSpPr>
            <a:spLocks noGrp="1"/>
          </p:cNvSpPr>
          <p:nvPr>
            <p:ph idx="1"/>
          </p:nvPr>
        </p:nvSpPr>
        <p:spPr>
          <a:xfrm>
            <a:off x="395536" y="1412776"/>
            <a:ext cx="8229600" cy="5170586"/>
          </a:xfrm>
        </p:spPr>
        <p:txBody>
          <a:bodyPr>
            <a:normAutofit/>
          </a:bodyPr>
          <a:lstStyle/>
          <a:p>
            <a:r>
              <a:rPr lang="vi-VN" b="1" dirty="0"/>
              <a:t>Danh sách gia sư phù hợp</a:t>
            </a:r>
          </a:p>
          <a:p>
            <a:r>
              <a:rPr lang="vi-VN" b="1" dirty="0"/>
              <a:t>Chi tiết yêu cầu học và phản hồi từ gia sư</a:t>
            </a:r>
          </a:p>
          <a:p>
            <a:r>
              <a:rPr lang="vi-VN" b="1" dirty="0"/>
              <a:t>Lịch học đã đăng ký</a:t>
            </a:r>
          </a:p>
          <a:p>
            <a:r>
              <a:rPr lang="vi-VN" b="1" dirty="0"/>
              <a:t>Đánh giá sau buổi học</a:t>
            </a:r>
          </a:p>
          <a:p>
            <a:r>
              <a:rPr lang="vi-VN" b="1" dirty="0"/>
              <a:t>Hồ sơ cá nhân công khai</a:t>
            </a:r>
          </a:p>
          <a:p>
            <a:r>
              <a:rPr lang="vi-VN" b="1" dirty="0"/>
              <a:t>Thống kê hoạt động và báo cáo quản trị</a:t>
            </a:r>
          </a:p>
          <a:p>
            <a:pPr marL="0" indent="0">
              <a:buNone/>
            </a:pPr>
            <a:endParaRPr lang="en-US" sz="2000" dirty="0"/>
          </a:p>
        </p:txBody>
      </p:sp>
    </p:spTree>
    <p:extLst>
      <p:ext uri="{BB962C8B-B14F-4D97-AF65-F5344CB8AC3E}">
        <p14:creationId xmlns:p14="http://schemas.microsoft.com/office/powerpoint/2010/main" val="4167403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7173416"/>
          </a:xfrm>
        </p:spPr>
      </p:pic>
    </p:spTree>
    <p:extLst>
      <p:ext uri="{BB962C8B-B14F-4D97-AF65-F5344CB8AC3E}">
        <p14:creationId xmlns:p14="http://schemas.microsoft.com/office/powerpoint/2010/main" val="1189248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vi-VN" dirty="0"/>
              <a:t>biểu đồ usecase quản trị viên </a:t>
            </a:r>
            <a:endParaRPr lang="en-US" dirty="0"/>
          </a:p>
        </p:txBody>
      </p:sp>
      <p:sp>
        <p:nvSpPr>
          <p:cNvPr id="5" name="Content Placeholder 4">
            <a:extLst>
              <a:ext uri="{FF2B5EF4-FFF2-40B4-BE49-F238E27FC236}">
                <a16:creationId xmlns:a16="http://schemas.microsoft.com/office/drawing/2014/main" id="{4A9F392F-E5CF-947E-DCE5-ED7517A7F585}"/>
              </a:ext>
            </a:extLst>
          </p:cNvPr>
          <p:cNvSpPr>
            <a:spLocks noGrp="1"/>
          </p:cNvSpPr>
          <p:nvPr>
            <p:ph idx="1"/>
          </p:nvPr>
        </p:nvSpPr>
        <p:spPr/>
        <p:txBody>
          <a:bodyPr/>
          <a:lstStyle/>
          <a:p>
            <a:endParaRPr lang="en-US"/>
          </a:p>
        </p:txBody>
      </p:sp>
      <p:pic>
        <p:nvPicPr>
          <p:cNvPr id="7" name="Hình ảnh 37">
            <a:extLst>
              <a:ext uri="{FF2B5EF4-FFF2-40B4-BE49-F238E27FC236}">
                <a16:creationId xmlns:a16="http://schemas.microsoft.com/office/drawing/2014/main" id="{523A6BD5-4022-7B15-5F16-F33B3E06689E}"/>
              </a:ext>
            </a:extLst>
          </p:cNvPr>
          <p:cNvPicPr>
            <a:picLocks noChangeAspect="1"/>
          </p:cNvPicPr>
          <p:nvPr/>
        </p:nvPicPr>
        <p:blipFill>
          <a:blip r:embed="rId2"/>
          <a:stretch>
            <a:fillRect/>
          </a:stretch>
        </p:blipFill>
        <p:spPr>
          <a:xfrm>
            <a:off x="-2844824" y="715580"/>
            <a:ext cx="14617624" cy="6840760"/>
          </a:xfrm>
          <a:prstGeom prst="rect">
            <a:avLst/>
          </a:prstGeom>
        </p:spPr>
      </p:pic>
    </p:spTree>
    <p:extLst>
      <p:ext uri="{BB962C8B-B14F-4D97-AF65-F5344CB8AC3E}">
        <p14:creationId xmlns:p14="http://schemas.microsoft.com/office/powerpoint/2010/main" val="2873551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vi-VN" dirty="0"/>
              <a:t>Biểu đồ usecase của Gia sư </a:t>
            </a:r>
            <a:endParaRPr lang="en-US" dirty="0"/>
          </a:p>
        </p:txBody>
      </p:sp>
      <p:pic>
        <p:nvPicPr>
          <p:cNvPr id="6" name="Hình ảnh 38">
            <a:extLst>
              <a:ext uri="{FF2B5EF4-FFF2-40B4-BE49-F238E27FC236}">
                <a16:creationId xmlns:a16="http://schemas.microsoft.com/office/drawing/2014/main" id="{34C1F00E-E73B-5EBC-BDCE-3E4F8775491C}"/>
              </a:ext>
            </a:extLst>
          </p:cNvPr>
          <p:cNvPicPr>
            <a:picLocks noGrp="1" noChangeAspect="1"/>
          </p:cNvPicPr>
          <p:nvPr>
            <p:ph idx="1"/>
          </p:nvPr>
        </p:nvPicPr>
        <p:blipFill>
          <a:blip r:embed="rId2"/>
          <a:stretch>
            <a:fillRect/>
          </a:stretch>
        </p:blipFill>
        <p:spPr>
          <a:xfrm>
            <a:off x="-1836712" y="692696"/>
            <a:ext cx="13033448" cy="7344816"/>
          </a:xfrm>
          <a:prstGeom prst="rect">
            <a:avLst/>
          </a:prstGeom>
        </p:spPr>
      </p:pic>
    </p:spTree>
    <p:extLst>
      <p:ext uri="{BB962C8B-B14F-4D97-AF65-F5344CB8AC3E}">
        <p14:creationId xmlns:p14="http://schemas.microsoft.com/office/powerpoint/2010/main" val="300133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vi-VN" dirty="0"/>
              <a:t>Biểu đồ usecase của sinh viên </a:t>
            </a:r>
            <a:endParaRPr lang="en-US" dirty="0"/>
          </a:p>
        </p:txBody>
      </p:sp>
      <p:sp>
        <p:nvSpPr>
          <p:cNvPr id="3" name="Content Placeholder 2"/>
          <p:cNvSpPr>
            <a:spLocks noGrp="1"/>
          </p:cNvSpPr>
          <p:nvPr>
            <p:ph idx="1"/>
          </p:nvPr>
        </p:nvSpPr>
        <p:spPr>
          <a:xfrm>
            <a:off x="457200" y="1600200"/>
            <a:ext cx="5410944" cy="4525963"/>
          </a:xfrm>
        </p:spPr>
        <p:txBody>
          <a:bodyPr/>
          <a:lstStyle/>
          <a:p>
            <a:r>
              <a:rPr lang="vi-VN" dirty="0"/>
              <a:t> </a:t>
            </a:r>
            <a:endParaRPr lang="en-US" dirty="0"/>
          </a:p>
        </p:txBody>
      </p:sp>
      <p:pic>
        <p:nvPicPr>
          <p:cNvPr id="5" name="Hình ảnh 39">
            <a:extLst>
              <a:ext uri="{FF2B5EF4-FFF2-40B4-BE49-F238E27FC236}">
                <a16:creationId xmlns:a16="http://schemas.microsoft.com/office/drawing/2014/main" id="{BD6E62D6-E1C8-0BB6-FDB3-BB700ACC7AFF}"/>
              </a:ext>
            </a:extLst>
          </p:cNvPr>
          <p:cNvPicPr>
            <a:picLocks noChangeAspect="1"/>
          </p:cNvPicPr>
          <p:nvPr/>
        </p:nvPicPr>
        <p:blipFill>
          <a:blip r:embed="rId2"/>
          <a:srcRect t="6401"/>
          <a:stretch/>
        </p:blipFill>
        <p:spPr>
          <a:xfrm>
            <a:off x="-2628799" y="637221"/>
            <a:ext cx="14761640" cy="7184267"/>
          </a:xfrm>
          <a:prstGeom prst="rect">
            <a:avLst/>
          </a:prstGeom>
        </p:spPr>
      </p:pic>
    </p:spTree>
    <p:extLst>
      <p:ext uri="{BB962C8B-B14F-4D97-AF65-F5344CB8AC3E}">
        <p14:creationId xmlns:p14="http://schemas.microsoft.com/office/powerpoint/2010/main" val="41071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67126-E451-3001-E856-62CBAE65B0C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CA0B41C-307D-FA80-92C9-8CBC69737AC9}"/>
              </a:ext>
            </a:extLst>
          </p:cNvPr>
          <p:cNvPicPr>
            <a:picLocks noGrp="1" noChangeAspect="1"/>
          </p:cNvPicPr>
          <p:nvPr>
            <p:ph idx="1"/>
          </p:nvPr>
        </p:nvPicPr>
        <p:blipFill>
          <a:blip r:embed="rId2"/>
          <a:stretch>
            <a:fillRect/>
          </a:stretch>
        </p:blipFill>
        <p:spPr>
          <a:xfrm>
            <a:off x="0" y="0"/>
            <a:ext cx="9143999" cy="6858000"/>
          </a:xfrm>
        </p:spPr>
      </p:pic>
      <p:pic>
        <p:nvPicPr>
          <p:cNvPr id="7" name="Picture 6">
            <a:extLst>
              <a:ext uri="{FF2B5EF4-FFF2-40B4-BE49-F238E27FC236}">
                <a16:creationId xmlns:a16="http://schemas.microsoft.com/office/drawing/2014/main" id="{1B6BE2EA-6340-99F0-F060-72C9497B567C}"/>
              </a:ext>
            </a:extLst>
          </p:cNvPr>
          <p:cNvPicPr>
            <a:picLocks noChangeAspect="1"/>
          </p:cNvPicPr>
          <p:nvPr/>
        </p:nvPicPr>
        <p:blipFill>
          <a:blip r:embed="rId3"/>
          <a:stretch>
            <a:fillRect/>
          </a:stretch>
        </p:blipFill>
        <p:spPr>
          <a:xfrm>
            <a:off x="0" y="0"/>
            <a:ext cx="9143998" cy="6858000"/>
          </a:xfrm>
          <a:prstGeom prst="rect">
            <a:avLst/>
          </a:prstGeom>
        </p:spPr>
      </p:pic>
    </p:spTree>
    <p:extLst>
      <p:ext uri="{BB962C8B-B14F-4D97-AF65-F5344CB8AC3E}">
        <p14:creationId xmlns:p14="http://schemas.microsoft.com/office/powerpoint/2010/main" val="4108486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8184-B252-B7C7-A9B6-15D8AC7DF3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2AA066-A95A-ECFA-126B-4BB2F73F822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B1235D0-05C4-F0A4-1FC9-9DA24848075F}"/>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5924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0BD1B-09F7-EF06-8670-3F9E8A75B3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87C094-9060-ED4A-890C-5ED3792A6BB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E732C15-EEF4-B3B9-24B2-C328C2F21DE6}"/>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15051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605"/>
            <a:ext cx="8229600" cy="1143000"/>
          </a:xfrm>
        </p:spPr>
        <p:txBody>
          <a:bodyPr/>
          <a:lstStyle/>
          <a:p>
            <a:r>
              <a:rPr lang="vi-VN" dirty="0"/>
              <a:t>Biểu đồ lớp </a:t>
            </a:r>
            <a:endParaRPr lang="en-US" dirty="0"/>
          </a:p>
        </p:txBody>
      </p:sp>
      <p:sp>
        <p:nvSpPr>
          <p:cNvPr id="5" name="Content Placeholder 4">
            <a:extLst>
              <a:ext uri="{FF2B5EF4-FFF2-40B4-BE49-F238E27FC236}">
                <a16:creationId xmlns:a16="http://schemas.microsoft.com/office/drawing/2014/main" id="{1DE06AA9-BDC1-3F2E-DAD4-90B085727995}"/>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2B894BC8-CF28-6347-246F-222CDFA3A093}"/>
              </a:ext>
            </a:extLst>
          </p:cNvPr>
          <p:cNvPicPr>
            <a:picLocks noChangeAspect="1"/>
          </p:cNvPicPr>
          <p:nvPr/>
        </p:nvPicPr>
        <p:blipFill>
          <a:blip r:embed="rId2"/>
          <a:stretch>
            <a:fillRect/>
          </a:stretch>
        </p:blipFill>
        <p:spPr>
          <a:xfrm>
            <a:off x="0" y="908719"/>
            <a:ext cx="9144000" cy="5892676"/>
          </a:xfrm>
          <a:prstGeom prst="rect">
            <a:avLst/>
          </a:prstGeom>
        </p:spPr>
      </p:pic>
    </p:spTree>
    <p:extLst>
      <p:ext uri="{BB962C8B-B14F-4D97-AF65-F5344CB8AC3E}">
        <p14:creationId xmlns:p14="http://schemas.microsoft.com/office/powerpoint/2010/main" val="162707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vi-VN" dirty="0"/>
              <a:t>Biểu đồ hoạt động của sinh viên </a:t>
            </a:r>
            <a:endParaRPr lang="en-US" dirty="0"/>
          </a:p>
        </p:txBody>
      </p:sp>
      <p:sp>
        <p:nvSpPr>
          <p:cNvPr id="5" name="Content Placeholder 4">
            <a:extLst>
              <a:ext uri="{FF2B5EF4-FFF2-40B4-BE49-F238E27FC236}">
                <a16:creationId xmlns:a16="http://schemas.microsoft.com/office/drawing/2014/main" id="{232A26A0-EECB-DA64-1993-5D6BD3EFC0D7}"/>
              </a:ext>
            </a:extLst>
          </p:cNvPr>
          <p:cNvSpPr>
            <a:spLocks noGrp="1"/>
          </p:cNvSpPr>
          <p:nvPr>
            <p:ph idx="1"/>
          </p:nvPr>
        </p:nvSpPr>
        <p:spPr/>
        <p:txBody>
          <a:bodyPr/>
          <a:lstStyle/>
          <a:p>
            <a:endParaRPr lang="en-US"/>
          </a:p>
        </p:txBody>
      </p:sp>
      <p:pic>
        <p:nvPicPr>
          <p:cNvPr id="6" name="Hình ảnh 7">
            <a:extLst>
              <a:ext uri="{FF2B5EF4-FFF2-40B4-BE49-F238E27FC236}">
                <a16:creationId xmlns:a16="http://schemas.microsoft.com/office/drawing/2014/main" id="{839E34EE-D522-AA1F-F080-89CAB6AF47C9}"/>
              </a:ext>
            </a:extLst>
          </p:cNvPr>
          <p:cNvPicPr>
            <a:picLocks noChangeAspect="1"/>
          </p:cNvPicPr>
          <p:nvPr/>
        </p:nvPicPr>
        <p:blipFill rotWithShape="1">
          <a:blip r:embed="rId2"/>
          <a:srcRect l="1064"/>
          <a:stretch/>
        </p:blipFill>
        <p:spPr bwMode="auto">
          <a:xfrm>
            <a:off x="-468560" y="700439"/>
            <a:ext cx="10009112" cy="604092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052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vi-VN" dirty="0"/>
              <a:t>Biểu đồ hoạt động của gia sư</a:t>
            </a:r>
            <a:endParaRPr lang="en-US" dirty="0"/>
          </a:p>
        </p:txBody>
      </p:sp>
      <p:sp>
        <p:nvSpPr>
          <p:cNvPr id="5" name="Content Placeholder 4">
            <a:extLst>
              <a:ext uri="{FF2B5EF4-FFF2-40B4-BE49-F238E27FC236}">
                <a16:creationId xmlns:a16="http://schemas.microsoft.com/office/drawing/2014/main" id="{FCC12167-517B-5EE6-410D-6BA31EECFE27}"/>
              </a:ext>
            </a:extLst>
          </p:cNvPr>
          <p:cNvSpPr>
            <a:spLocks noGrp="1"/>
          </p:cNvSpPr>
          <p:nvPr>
            <p:ph idx="1"/>
          </p:nvPr>
        </p:nvSpPr>
        <p:spPr/>
        <p:txBody>
          <a:bodyPr/>
          <a:lstStyle/>
          <a:p>
            <a:endParaRPr lang="en-US"/>
          </a:p>
        </p:txBody>
      </p:sp>
      <p:pic>
        <p:nvPicPr>
          <p:cNvPr id="6" name="Hình ảnh 8">
            <a:extLst>
              <a:ext uri="{FF2B5EF4-FFF2-40B4-BE49-F238E27FC236}">
                <a16:creationId xmlns:a16="http://schemas.microsoft.com/office/drawing/2014/main" id="{288DF0CC-11C4-F12C-DA6D-5FE8A9F7CB7D}"/>
              </a:ext>
            </a:extLst>
          </p:cNvPr>
          <p:cNvPicPr>
            <a:picLocks noChangeAspect="1"/>
          </p:cNvPicPr>
          <p:nvPr/>
        </p:nvPicPr>
        <p:blipFill>
          <a:blip r:embed="rId2"/>
          <a:stretch>
            <a:fillRect/>
          </a:stretch>
        </p:blipFill>
        <p:spPr>
          <a:xfrm>
            <a:off x="-540568" y="731837"/>
            <a:ext cx="9865096" cy="6441579"/>
          </a:xfrm>
          <a:prstGeom prst="rect">
            <a:avLst/>
          </a:prstGeom>
        </p:spPr>
      </p:pic>
    </p:spTree>
    <p:extLst>
      <p:ext uri="{BB962C8B-B14F-4D97-AF65-F5344CB8AC3E}">
        <p14:creationId xmlns:p14="http://schemas.microsoft.com/office/powerpoint/2010/main" val="4234471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032" y="-243408"/>
            <a:ext cx="8229600" cy="1143000"/>
          </a:xfrm>
        </p:spPr>
        <p:txBody>
          <a:bodyPr/>
          <a:lstStyle/>
          <a:p>
            <a:r>
              <a:rPr lang="vi-VN" dirty="0"/>
              <a:t>Biểu đồ hoạt động của quản trị viên </a:t>
            </a:r>
            <a:endParaRPr lang="en-US" dirty="0"/>
          </a:p>
        </p:txBody>
      </p:sp>
      <p:sp>
        <p:nvSpPr>
          <p:cNvPr id="5" name="Content Placeholder 4">
            <a:extLst>
              <a:ext uri="{FF2B5EF4-FFF2-40B4-BE49-F238E27FC236}">
                <a16:creationId xmlns:a16="http://schemas.microsoft.com/office/drawing/2014/main" id="{D6B84715-93FE-CD61-3842-D1292D2ADCEA}"/>
              </a:ext>
            </a:extLst>
          </p:cNvPr>
          <p:cNvSpPr>
            <a:spLocks noGrp="1"/>
          </p:cNvSpPr>
          <p:nvPr>
            <p:ph idx="1"/>
          </p:nvPr>
        </p:nvSpPr>
        <p:spPr/>
        <p:txBody>
          <a:bodyPr/>
          <a:lstStyle/>
          <a:p>
            <a:endParaRPr lang="en-US"/>
          </a:p>
        </p:txBody>
      </p:sp>
      <p:pic>
        <p:nvPicPr>
          <p:cNvPr id="6" name="Hình ảnh 9">
            <a:extLst>
              <a:ext uri="{FF2B5EF4-FFF2-40B4-BE49-F238E27FC236}">
                <a16:creationId xmlns:a16="http://schemas.microsoft.com/office/drawing/2014/main" id="{94C55665-E7F1-2CE1-AF99-323B4194FBB8}"/>
              </a:ext>
            </a:extLst>
          </p:cNvPr>
          <p:cNvPicPr>
            <a:picLocks noChangeAspect="1"/>
          </p:cNvPicPr>
          <p:nvPr/>
        </p:nvPicPr>
        <p:blipFill>
          <a:blip r:embed="rId2"/>
          <a:stretch>
            <a:fillRect/>
          </a:stretch>
        </p:blipFill>
        <p:spPr>
          <a:xfrm>
            <a:off x="-828600" y="731837"/>
            <a:ext cx="11233248" cy="6441579"/>
          </a:xfrm>
          <a:prstGeom prst="rect">
            <a:avLst/>
          </a:prstGeom>
        </p:spPr>
      </p:pic>
    </p:spTree>
    <p:extLst>
      <p:ext uri="{BB962C8B-B14F-4D97-AF65-F5344CB8AC3E}">
        <p14:creationId xmlns:p14="http://schemas.microsoft.com/office/powerpoint/2010/main" val="2197405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912" y="-252164"/>
            <a:ext cx="8229600" cy="1143000"/>
          </a:xfrm>
        </p:spPr>
        <p:txBody>
          <a:bodyPr/>
          <a:lstStyle/>
          <a:p>
            <a:r>
              <a:rPr lang="vi-VN" dirty="0"/>
              <a:t>Biểu đồ tuần tự</a:t>
            </a:r>
            <a:endParaRPr lang="en-US" dirty="0"/>
          </a:p>
        </p:txBody>
      </p:sp>
      <p:sp>
        <p:nvSpPr>
          <p:cNvPr id="5" name="Content Placeholder 4">
            <a:extLst>
              <a:ext uri="{FF2B5EF4-FFF2-40B4-BE49-F238E27FC236}">
                <a16:creationId xmlns:a16="http://schemas.microsoft.com/office/drawing/2014/main" id="{A0D79CF6-E15C-88CC-BA0D-63C7764A1A56}"/>
              </a:ext>
            </a:extLst>
          </p:cNvPr>
          <p:cNvSpPr>
            <a:spLocks noGrp="1"/>
          </p:cNvSpPr>
          <p:nvPr>
            <p:ph idx="1"/>
          </p:nvPr>
        </p:nvSpPr>
        <p:spPr/>
        <p:txBody>
          <a:bodyPr/>
          <a:lstStyle/>
          <a:p>
            <a:endParaRPr lang="en-US"/>
          </a:p>
        </p:txBody>
      </p:sp>
      <p:pic>
        <p:nvPicPr>
          <p:cNvPr id="7" name="Hình ảnh 10">
            <a:extLst>
              <a:ext uri="{FF2B5EF4-FFF2-40B4-BE49-F238E27FC236}">
                <a16:creationId xmlns:a16="http://schemas.microsoft.com/office/drawing/2014/main" id="{7F21E7B4-D396-B7EB-9D20-CB5DD495106E}"/>
              </a:ext>
            </a:extLst>
          </p:cNvPr>
          <p:cNvPicPr>
            <a:picLocks noChangeAspect="1"/>
          </p:cNvPicPr>
          <p:nvPr/>
        </p:nvPicPr>
        <p:blipFill rotWithShape="1">
          <a:blip r:embed="rId2"/>
          <a:srcRect l="4988" r="4372" b="6109"/>
          <a:stretch/>
        </p:blipFill>
        <p:spPr bwMode="auto">
          <a:xfrm>
            <a:off x="0" y="620688"/>
            <a:ext cx="9396535" cy="64087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13489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1B442-A5DA-4035-19E6-ED77CD8635C2}"/>
              </a:ext>
            </a:extLst>
          </p:cNvPr>
          <p:cNvSpPr>
            <a:spLocks noGrp="1"/>
          </p:cNvSpPr>
          <p:nvPr>
            <p:ph type="title"/>
          </p:nvPr>
        </p:nvSpPr>
        <p:spPr>
          <a:xfrm>
            <a:off x="472858" y="0"/>
            <a:ext cx="8229600" cy="1772816"/>
          </a:xfrm>
        </p:spPr>
        <p:txBody>
          <a:bodyPr>
            <a:normAutofit/>
          </a:bodyPr>
          <a:lstStyle/>
          <a:p>
            <a:r>
              <a:rPr lang="fr-FR" sz="3100" b="1" kern="0" dirty="0">
                <a:effectLst/>
                <a:latin typeface="Times New Roman" panose="02020603050405020304" pitchFamily="18" charset="0"/>
                <a:ea typeface="SimSun" panose="02010600030101010101" pitchFamily="2" charset="-122"/>
                <a:cs typeface="Times New Roman" panose="02020603050405020304" pitchFamily="18" charset="0"/>
              </a:rPr>
              <a:t>THIẾT KẾ HỆ THỐNG</a:t>
            </a:r>
            <a:br>
              <a:rPr lang="en-US" sz="3100" b="1"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b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Mô</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tả</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chi </a:t>
            </a: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tiết</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cơ</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sở</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dữ</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3100" b="1" dirty="0" err="1">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liệu</a:t>
            </a:r>
            <a:r>
              <a:rPr lang="en-US" sz="31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br>
              <a:rPr lang="en-US" sz="1800" dirty="0">
                <a:effectLst/>
                <a:latin typeface=".VnTime"/>
                <a:ea typeface="SimSun" panose="02010600030101010101" pitchFamily="2" charset="-122"/>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745B989-853B-10FC-8A1E-C255AB9F9E7D}"/>
              </a:ext>
            </a:extLst>
          </p:cNvPr>
          <p:cNvSpPr>
            <a:spLocks noGrp="1"/>
          </p:cNvSpPr>
          <p:nvPr>
            <p:ph idx="1"/>
          </p:nvPr>
        </p:nvSpPr>
        <p:spPr>
          <a:xfrm>
            <a:off x="472858" y="1556792"/>
            <a:ext cx="8229600" cy="5904656"/>
          </a:xfrm>
        </p:spPr>
        <p:txBody>
          <a:bodyPr>
            <a:normAutofit/>
          </a:bodyPr>
          <a:lstStyle/>
          <a:p>
            <a:r>
              <a:rPr lang="en-US" b="1" dirty="0">
                <a:effectLst/>
                <a:latin typeface="Constantia" panose="02030602050306030303" pitchFamily="18" charset="0"/>
                <a:ea typeface="SimSun" panose="02010600030101010101" pitchFamily="2" charset="-122"/>
              </a:rPr>
              <a:t>Danh </a:t>
            </a:r>
            <a:r>
              <a:rPr lang="en-US" b="1" dirty="0" err="1">
                <a:effectLst/>
                <a:latin typeface="Constantia" panose="02030602050306030303" pitchFamily="18" charset="0"/>
                <a:ea typeface="SimSun" panose="02010600030101010101" pitchFamily="2" charset="-122"/>
              </a:rPr>
              <a:t>mục</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môn</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học</a:t>
            </a:r>
            <a:endParaRPr lang="en-US" b="1" dirty="0">
              <a:effectLst/>
              <a:latin typeface="Constantia" panose="02030602050306030303" pitchFamily="18" charset="0"/>
              <a:ea typeface="SimSun" panose="02010600030101010101" pitchFamily="2" charset="-122"/>
            </a:endParaRPr>
          </a:p>
          <a:p>
            <a:endParaRPr lang="en-US" b="1" dirty="0">
              <a:effectLst/>
              <a:latin typeface="Constantia" panose="02030602050306030303" pitchFamily="18" charset="0"/>
              <a:ea typeface="SimSun" panose="02010600030101010101" pitchFamily="2" charset="-122"/>
            </a:endParaRPr>
          </a:p>
          <a:p>
            <a:r>
              <a:rPr lang="en-US" b="1" dirty="0" err="1">
                <a:effectLst/>
                <a:latin typeface="Constantia" panose="02030602050306030303" pitchFamily="18" charset="0"/>
                <a:ea typeface="SimSun" panose="02010600030101010101" pitchFamily="2" charset="-122"/>
              </a:rPr>
              <a:t>Quản</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lý</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lịch</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học</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và</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yêu</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cầu</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học</a:t>
            </a:r>
            <a:endParaRPr lang="en-US" b="1" dirty="0">
              <a:effectLst/>
              <a:latin typeface="Constantia" panose="02030602050306030303" pitchFamily="18" charset="0"/>
              <a:ea typeface="SimSun" panose="02010600030101010101" pitchFamily="2" charset="-122"/>
            </a:endParaRPr>
          </a:p>
          <a:p>
            <a:endParaRPr lang="en-US" b="1" dirty="0">
              <a:latin typeface="Constantia" panose="02030602050306030303" pitchFamily="18" charset="0"/>
              <a:ea typeface="SimSun" panose="02010600030101010101" pitchFamily="2" charset="-122"/>
            </a:endParaRPr>
          </a:p>
          <a:p>
            <a:r>
              <a:rPr lang="en-US" b="1" dirty="0" err="1">
                <a:effectLst/>
                <a:latin typeface="Constantia" panose="02030602050306030303" pitchFamily="18" charset="0"/>
                <a:ea typeface="SimSun" panose="02010600030101010101" pitchFamily="2" charset="-122"/>
              </a:rPr>
              <a:t>Quản</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lý</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thông</a:t>
            </a:r>
            <a:r>
              <a:rPr lang="en-US" b="1" dirty="0">
                <a:effectLst/>
                <a:latin typeface="Constantia" panose="02030602050306030303" pitchFamily="18" charset="0"/>
                <a:ea typeface="SimSun" panose="02010600030101010101" pitchFamily="2" charset="-122"/>
              </a:rPr>
              <a:t> tin </a:t>
            </a:r>
            <a:r>
              <a:rPr lang="en-US" b="1" dirty="0" err="1">
                <a:effectLst/>
                <a:latin typeface="Constantia" panose="02030602050306030303" pitchFamily="18" charset="0"/>
                <a:ea typeface="SimSun" panose="02010600030101010101" pitchFamily="2" charset="-122"/>
              </a:rPr>
              <a:t>người</a:t>
            </a:r>
            <a:r>
              <a:rPr lang="en-US" b="1" dirty="0">
                <a:effectLst/>
                <a:latin typeface="Constantia" panose="02030602050306030303" pitchFamily="18" charset="0"/>
                <a:ea typeface="SimSun" panose="02010600030101010101" pitchFamily="2" charset="-122"/>
              </a:rPr>
              <a:t> dung</a:t>
            </a:r>
          </a:p>
          <a:p>
            <a:endParaRPr lang="en-US" b="1" dirty="0">
              <a:effectLst/>
              <a:latin typeface="Constantia" panose="02030602050306030303" pitchFamily="18" charset="0"/>
              <a:ea typeface="SimSun" panose="02010600030101010101" pitchFamily="2" charset="-122"/>
            </a:endParaRPr>
          </a:p>
          <a:p>
            <a:r>
              <a:rPr lang="en-US" b="1" dirty="0" err="1">
                <a:effectLst/>
                <a:latin typeface="Constantia" panose="02030602050306030303" pitchFamily="18" charset="0"/>
                <a:ea typeface="SimSun" panose="02010600030101010101" pitchFamily="2" charset="-122"/>
              </a:rPr>
              <a:t>Quản</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lý</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lịch</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rảnh</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của</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gia</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sư</a:t>
            </a:r>
            <a:endParaRPr lang="en-US" b="1" dirty="0">
              <a:effectLst/>
              <a:latin typeface="Constantia" panose="02030602050306030303" pitchFamily="18" charset="0"/>
              <a:ea typeface="SimSun" panose="02010600030101010101" pitchFamily="2" charset="-122"/>
            </a:endParaRPr>
          </a:p>
          <a:p>
            <a:endParaRPr lang="en-US" b="1" dirty="0">
              <a:latin typeface="Constantia" panose="02030602050306030303" pitchFamily="18" charset="0"/>
              <a:ea typeface="SimSun" panose="02010600030101010101" pitchFamily="2" charset="-122"/>
            </a:endParaRPr>
          </a:p>
          <a:p>
            <a:r>
              <a:rPr lang="en-US" b="1" dirty="0" err="1">
                <a:effectLst/>
                <a:latin typeface="Constantia" panose="02030602050306030303" pitchFamily="18" charset="0"/>
                <a:ea typeface="SimSun" panose="02010600030101010101" pitchFamily="2" charset="-122"/>
              </a:rPr>
              <a:t>Quản</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lý</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đánh</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giá</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và</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thanh</a:t>
            </a:r>
            <a:r>
              <a:rPr lang="en-US" b="1" dirty="0">
                <a:effectLst/>
                <a:latin typeface="Constantia" panose="02030602050306030303" pitchFamily="18" charset="0"/>
                <a:ea typeface="SimSun" panose="02010600030101010101" pitchFamily="2" charset="-122"/>
              </a:rPr>
              <a:t> </a:t>
            </a:r>
            <a:r>
              <a:rPr lang="en-US" b="1" dirty="0" err="1">
                <a:effectLst/>
                <a:latin typeface="Constantia" panose="02030602050306030303" pitchFamily="18" charset="0"/>
                <a:ea typeface="SimSun" panose="02010600030101010101" pitchFamily="2" charset="-122"/>
              </a:rPr>
              <a:t>toán</a:t>
            </a:r>
            <a:endParaRPr lang="en-US" sz="4800" dirty="0">
              <a:latin typeface="Constantia" panose="02030602050306030303" pitchFamily="18" charset="0"/>
            </a:endParaRPr>
          </a:p>
        </p:txBody>
      </p:sp>
    </p:spTree>
    <p:extLst>
      <p:ext uri="{BB962C8B-B14F-4D97-AF65-F5344CB8AC3E}">
        <p14:creationId xmlns:p14="http://schemas.microsoft.com/office/powerpoint/2010/main" val="821504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5055D-7EE8-B6E0-E047-C33FDBA78475}"/>
              </a:ext>
            </a:extLst>
          </p:cNvPr>
          <p:cNvSpPr>
            <a:spLocks noGrp="1"/>
          </p:cNvSpPr>
          <p:nvPr>
            <p:ph type="title"/>
          </p:nvPr>
        </p:nvSpPr>
        <p:spPr>
          <a:xfrm>
            <a:off x="462372" y="0"/>
            <a:ext cx="8219256" cy="1210146"/>
          </a:xfrm>
        </p:spPr>
        <p:txBody>
          <a:bodyPr>
            <a:normAutofit fontScale="90000"/>
          </a:bodyPr>
          <a:lstStyle/>
          <a:p>
            <a:r>
              <a:rPr lang="de-DE" sz="3200" b="1" dirty="0">
                <a:effectLst/>
                <a:latin typeface="Times New Roman" panose="02020603050405020304" pitchFamily="18" charset="0"/>
                <a:ea typeface="DengXian Light" panose="02010600030101010101" pitchFamily="2" charset="-122"/>
                <a:cs typeface="Times New Roman" panose="02020603050405020304" pitchFamily="18" charset="0"/>
              </a:rPr>
              <a:t>Sơ đồ thực thể liên kết </a:t>
            </a:r>
            <a:br>
              <a:rPr lang="en-US" sz="1800" b="1"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2B894BC8-CF28-6347-246F-222CDFA3A093}"/>
              </a:ext>
            </a:extLst>
          </p:cNvPr>
          <p:cNvPicPr>
            <a:picLocks noGrp="1" noChangeAspect="1"/>
          </p:cNvPicPr>
          <p:nvPr>
            <p:ph idx="1"/>
          </p:nvPr>
        </p:nvPicPr>
        <p:blipFill rotWithShape="1">
          <a:blip r:embed="rId2"/>
          <a:srcRect l="4720" t="6139" r="2265" b="2772"/>
          <a:stretch/>
        </p:blipFill>
        <p:spPr bwMode="auto">
          <a:xfrm>
            <a:off x="35496" y="620688"/>
            <a:ext cx="9108503" cy="62373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697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9BC4-B1A0-1450-77A0-1AFAD16F3399}"/>
              </a:ext>
            </a:extLst>
          </p:cNvPr>
          <p:cNvSpPr>
            <a:spLocks noGrp="1"/>
          </p:cNvSpPr>
          <p:nvPr>
            <p:ph type="title"/>
          </p:nvPr>
        </p:nvSpPr>
        <p:spPr/>
        <p:txBody>
          <a:bodyPr>
            <a:normAutofit/>
          </a:bodyPr>
          <a:lstStyle/>
          <a:p>
            <a:r>
              <a:rPr lang="de-DE" sz="3200" b="1" dirty="0">
                <a:effectLst/>
                <a:latin typeface="Times New Roman" panose="02020603050405020304" pitchFamily="18" charset="0"/>
                <a:ea typeface="SimSun" panose="02010600030101010101" pitchFamily="2" charset="-122"/>
              </a:rPr>
              <a:t>CÀI ĐẶT CHƯƠNG TRÌNH</a:t>
            </a:r>
            <a:endParaRPr lang="en-US" sz="6600" b="1" dirty="0"/>
          </a:p>
        </p:txBody>
      </p:sp>
      <p:sp>
        <p:nvSpPr>
          <p:cNvPr id="3" name="Content Placeholder 2">
            <a:extLst>
              <a:ext uri="{FF2B5EF4-FFF2-40B4-BE49-F238E27FC236}">
                <a16:creationId xmlns:a16="http://schemas.microsoft.com/office/drawing/2014/main" id="{BD1FAD03-1807-29C2-FAC7-3C0B261BAC4E}"/>
              </a:ext>
            </a:extLst>
          </p:cNvPr>
          <p:cNvSpPr>
            <a:spLocks noGrp="1"/>
          </p:cNvSpPr>
          <p:nvPr>
            <p:ph idx="1"/>
          </p:nvPr>
        </p:nvSpPr>
        <p:spPr>
          <a:xfrm>
            <a:off x="457200" y="2132856"/>
            <a:ext cx="8229600" cy="3993307"/>
          </a:xfrm>
        </p:spPr>
        <p:txBody>
          <a:bodyPr>
            <a:normAutofit/>
          </a:bodyPr>
          <a:lstStyle/>
          <a:p>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ngữ</a:t>
            </a:r>
            <a:r>
              <a:rPr lang="en-US" sz="2400" dirty="0">
                <a:latin typeface="Times New Roman" panose="02020603050405020304" pitchFamily="18" charset="0"/>
                <a:cs typeface="Times New Roman" panose="02020603050405020304" pitchFamily="18" charset="0"/>
              </a:rPr>
              <a:t> SQL Server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database</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6016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487D-200E-04ED-F2B9-BB7389B9D408}"/>
              </a:ext>
            </a:extLst>
          </p:cNvPr>
          <p:cNvSpPr>
            <a:spLocks noGrp="1"/>
          </p:cNvSpPr>
          <p:nvPr>
            <p:ph type="title"/>
          </p:nvPr>
        </p:nvSpPr>
        <p:spPr>
          <a:xfrm>
            <a:off x="457200" y="-21454"/>
            <a:ext cx="8229600" cy="1143000"/>
          </a:xfrm>
        </p:spPr>
        <p:txBody>
          <a:bodyPr>
            <a:normAutofit/>
          </a:bodyPr>
          <a:lstStyle/>
          <a:p>
            <a:r>
              <a:rPr lang="en-US" sz="3200" b="1" i="1" dirty="0" err="1">
                <a:effectLst/>
                <a:latin typeface="Times New Roman" panose="02020603050405020304" pitchFamily="18" charset="0"/>
                <a:ea typeface="SimSun" panose="02010600030101010101" pitchFamily="2" charset="-122"/>
              </a:rPr>
              <a:t>Kiểm</a:t>
            </a:r>
            <a:r>
              <a:rPr lang="en-US" sz="3200" b="1" i="1" dirty="0">
                <a:effectLst/>
                <a:latin typeface="Times New Roman" panose="02020603050405020304" pitchFamily="18" charset="0"/>
                <a:ea typeface="SimSun" panose="02010600030101010101" pitchFamily="2" charset="-122"/>
              </a:rPr>
              <a:t> </a:t>
            </a:r>
            <a:r>
              <a:rPr lang="en-US" sz="3200" b="1" i="1" dirty="0" err="1">
                <a:effectLst/>
                <a:latin typeface="Times New Roman" panose="02020603050405020304" pitchFamily="18" charset="0"/>
                <a:ea typeface="SimSun" panose="02010600030101010101" pitchFamily="2" charset="-122"/>
              </a:rPr>
              <a:t>thử</a:t>
            </a:r>
            <a:r>
              <a:rPr lang="en-US" sz="3200" b="1" i="1" dirty="0">
                <a:effectLst/>
                <a:latin typeface="Times New Roman" panose="02020603050405020304" pitchFamily="18" charset="0"/>
                <a:ea typeface="SimSun" panose="02010600030101010101" pitchFamily="2" charset="-122"/>
              </a:rPr>
              <a:t> </a:t>
            </a:r>
            <a:r>
              <a:rPr lang="en-US" sz="3200" b="1" i="1" dirty="0" err="1">
                <a:effectLst/>
                <a:latin typeface="Times New Roman" panose="02020603050405020304" pitchFamily="18" charset="0"/>
                <a:ea typeface="SimSun" panose="02010600030101010101" pitchFamily="2" charset="-122"/>
              </a:rPr>
              <a:t>và</a:t>
            </a:r>
            <a:r>
              <a:rPr lang="en-US" sz="3200" b="1" i="1" dirty="0">
                <a:effectLst/>
                <a:latin typeface="Times New Roman" panose="02020603050405020304" pitchFamily="18" charset="0"/>
                <a:ea typeface="SimSun" panose="02010600030101010101" pitchFamily="2" charset="-122"/>
              </a:rPr>
              <a:t> </a:t>
            </a:r>
            <a:r>
              <a:rPr lang="en-US" sz="3200" b="1" i="1" dirty="0" err="1">
                <a:effectLst/>
                <a:latin typeface="Times New Roman" panose="02020603050405020304" pitchFamily="18" charset="0"/>
                <a:ea typeface="SimSun" panose="02010600030101010101" pitchFamily="2" charset="-122"/>
              </a:rPr>
              <a:t>mô</a:t>
            </a:r>
            <a:r>
              <a:rPr lang="en-US" sz="3200" b="1" i="1" dirty="0">
                <a:effectLst/>
                <a:latin typeface="Times New Roman" panose="02020603050405020304" pitchFamily="18" charset="0"/>
                <a:ea typeface="SimSun" panose="02010600030101010101" pitchFamily="2" charset="-122"/>
              </a:rPr>
              <a:t> </a:t>
            </a:r>
            <a:r>
              <a:rPr lang="en-US" sz="3200" b="1" i="1" dirty="0" err="1">
                <a:effectLst/>
                <a:latin typeface="Times New Roman" panose="02020603050405020304" pitchFamily="18" charset="0"/>
                <a:ea typeface="SimSun" panose="02010600030101010101" pitchFamily="2" charset="-122"/>
              </a:rPr>
              <a:t>phỏng</a:t>
            </a:r>
            <a:br>
              <a:rPr lang="en-US" sz="3200" b="1" i="1" dirty="0">
                <a:effectLst/>
                <a:latin typeface="Times New Roman" panose="02020603050405020304" pitchFamily="18" charset="0"/>
                <a:ea typeface="SimSun" panose="02010600030101010101" pitchFamily="2" charset="-122"/>
              </a:rPr>
            </a:br>
            <a:r>
              <a:rPr lang="en-US" sz="2400" b="1" i="1" dirty="0" err="1">
                <a:effectLst/>
                <a:latin typeface="Times New Roman" panose="02020603050405020304" pitchFamily="18" charset="0"/>
                <a:ea typeface="SimSun" panose="02010600030101010101" pitchFamily="2" charset="-122"/>
              </a:rPr>
              <a:t>giao</a:t>
            </a:r>
            <a:r>
              <a:rPr lang="en-US" sz="2400" b="1" i="1" dirty="0">
                <a:effectLst/>
                <a:latin typeface="Times New Roman" panose="02020603050405020304" pitchFamily="18" charset="0"/>
                <a:ea typeface="SimSun" panose="02010600030101010101" pitchFamily="2" charset="-122"/>
              </a:rPr>
              <a:t> </a:t>
            </a:r>
            <a:r>
              <a:rPr lang="en-US" sz="2400" b="1" i="1" dirty="0" err="1">
                <a:effectLst/>
                <a:latin typeface="Times New Roman" panose="02020603050405020304" pitchFamily="18" charset="0"/>
                <a:ea typeface="SimSun" panose="02010600030101010101" pitchFamily="2" charset="-122"/>
              </a:rPr>
              <a:t>diện</a:t>
            </a:r>
            <a:r>
              <a:rPr lang="en-US" sz="2400" b="1" i="1" dirty="0">
                <a:effectLst/>
                <a:latin typeface="Times New Roman" panose="02020603050405020304" pitchFamily="18" charset="0"/>
                <a:ea typeface="SimSun" panose="02010600030101010101" pitchFamily="2" charset="-122"/>
              </a:rPr>
              <a:t> </a:t>
            </a:r>
            <a:r>
              <a:rPr lang="en-US" sz="2400" b="1" i="1" dirty="0" err="1">
                <a:effectLst/>
                <a:latin typeface="Times New Roman" panose="02020603050405020304" pitchFamily="18" charset="0"/>
                <a:ea typeface="SimSun" panose="02010600030101010101" pitchFamily="2" charset="-122"/>
              </a:rPr>
              <a:t>trang</a:t>
            </a:r>
            <a:r>
              <a:rPr lang="en-US" sz="2400" b="1" i="1" dirty="0">
                <a:effectLst/>
                <a:latin typeface="Times New Roman" panose="02020603050405020304" pitchFamily="18" charset="0"/>
                <a:ea typeface="SimSun" panose="02010600030101010101" pitchFamily="2" charset="-122"/>
              </a:rPr>
              <a:t> </a:t>
            </a:r>
            <a:r>
              <a:rPr lang="en-US" sz="2400" b="1" i="1" dirty="0" err="1">
                <a:effectLst/>
                <a:latin typeface="Times New Roman" panose="02020603050405020304" pitchFamily="18" charset="0"/>
                <a:ea typeface="SimSun" panose="02010600030101010101" pitchFamily="2" charset="-122"/>
              </a:rPr>
              <a:t>chủ</a:t>
            </a:r>
            <a:endParaRPr lang="en-US" sz="6600" dirty="0"/>
          </a:p>
        </p:txBody>
      </p:sp>
      <p:pic>
        <p:nvPicPr>
          <p:cNvPr id="4" name="Content Placeholder 3">
            <a:extLst>
              <a:ext uri="{FF2B5EF4-FFF2-40B4-BE49-F238E27FC236}">
                <a16:creationId xmlns:a16="http://schemas.microsoft.com/office/drawing/2014/main" id="{38A7CBE0-0822-91F4-B2D3-A70647D17D34}"/>
              </a:ext>
            </a:extLst>
          </p:cNvPr>
          <p:cNvPicPr>
            <a:picLocks noGrp="1" noChangeAspect="1"/>
          </p:cNvPicPr>
          <p:nvPr>
            <p:ph idx="1"/>
          </p:nvPr>
        </p:nvPicPr>
        <p:blipFill>
          <a:blip r:embed="rId2"/>
          <a:stretch>
            <a:fillRect/>
          </a:stretch>
        </p:blipFill>
        <p:spPr>
          <a:xfrm>
            <a:off x="0" y="1124744"/>
            <a:ext cx="9144000" cy="5733256"/>
          </a:xfrm>
          <a:prstGeom prst="rect">
            <a:avLst/>
          </a:prstGeom>
        </p:spPr>
      </p:pic>
    </p:spTree>
    <p:extLst>
      <p:ext uri="{BB962C8B-B14F-4D97-AF65-F5344CB8AC3E}">
        <p14:creationId xmlns:p14="http://schemas.microsoft.com/office/powerpoint/2010/main" val="2745339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A4C24-0338-3D88-7326-A655E2BAC66E}"/>
              </a:ext>
            </a:extLst>
          </p:cNvPr>
          <p:cNvSpPr>
            <a:spLocks noGrp="1"/>
          </p:cNvSpPr>
          <p:nvPr>
            <p:ph type="title"/>
          </p:nvPr>
        </p:nvSpPr>
        <p:spPr>
          <a:xfrm>
            <a:off x="441776" y="-126539"/>
            <a:ext cx="8229600" cy="1143000"/>
          </a:xfrm>
        </p:spPr>
        <p:txBody>
          <a:bodyPr>
            <a:normAutofit/>
          </a:bodyPr>
          <a:lstStyle/>
          <a:p>
            <a:r>
              <a:rPr lang="en-US" sz="2400" dirty="0">
                <a:latin typeface="Times New Roman" panose="02020603050405020304" pitchFamily="18" charset="0"/>
                <a:cs typeface="Times New Roman" panose="02020603050405020304" pitchFamily="18" charset="0"/>
              </a:rPr>
              <a:t>Giao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nhập</a:t>
            </a:r>
            <a:endParaRPr lang="en-US" sz="24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054EA0D-81D6-1C28-0717-BBBF7ECA7293}"/>
              </a:ext>
            </a:extLst>
          </p:cNvPr>
          <p:cNvPicPr>
            <a:picLocks noGrp="1" noChangeAspect="1"/>
          </p:cNvPicPr>
          <p:nvPr>
            <p:ph idx="1"/>
          </p:nvPr>
        </p:nvPicPr>
        <p:blipFill>
          <a:blip r:embed="rId2"/>
          <a:stretch>
            <a:fillRect/>
          </a:stretch>
        </p:blipFill>
        <p:spPr>
          <a:xfrm>
            <a:off x="0" y="1124744"/>
            <a:ext cx="9144000" cy="5616624"/>
          </a:xfrm>
          <a:prstGeom prst="rect">
            <a:avLst/>
          </a:prstGeom>
        </p:spPr>
      </p:pic>
    </p:spTree>
    <p:extLst>
      <p:ext uri="{BB962C8B-B14F-4D97-AF65-F5344CB8AC3E}">
        <p14:creationId xmlns:p14="http://schemas.microsoft.com/office/powerpoint/2010/main" val="2534152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7150-A344-6637-C3EA-BE4C35377553}"/>
              </a:ext>
            </a:extLst>
          </p:cNvPr>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Giao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p>
        </p:txBody>
      </p:sp>
      <p:pic>
        <p:nvPicPr>
          <p:cNvPr id="4" name="Content Placeholder 3">
            <a:extLst>
              <a:ext uri="{FF2B5EF4-FFF2-40B4-BE49-F238E27FC236}">
                <a16:creationId xmlns:a16="http://schemas.microsoft.com/office/drawing/2014/main" id="{59D6ABCC-35A3-0882-388E-4A82F6503364}"/>
              </a:ext>
            </a:extLst>
          </p:cNvPr>
          <p:cNvPicPr>
            <a:picLocks noGrp="1" noChangeAspect="1"/>
          </p:cNvPicPr>
          <p:nvPr>
            <p:ph idx="1"/>
          </p:nvPr>
        </p:nvPicPr>
        <p:blipFill>
          <a:blip r:embed="rId2"/>
          <a:stretch>
            <a:fillRect/>
          </a:stretch>
        </p:blipFill>
        <p:spPr>
          <a:xfrm>
            <a:off x="0" y="1417638"/>
            <a:ext cx="9144000" cy="4963689"/>
          </a:xfrm>
          <a:prstGeom prst="rect">
            <a:avLst/>
          </a:prstGeom>
        </p:spPr>
      </p:pic>
    </p:spTree>
    <p:extLst>
      <p:ext uri="{BB962C8B-B14F-4D97-AF65-F5344CB8AC3E}">
        <p14:creationId xmlns:p14="http://schemas.microsoft.com/office/powerpoint/2010/main" val="1100054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397</TotalTime>
  <Words>323</Words>
  <Application>Microsoft Office PowerPoint</Application>
  <PresentationFormat>On-screen Show (4:3)</PresentationFormat>
  <Paragraphs>61</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.VnTime</vt:lpstr>
      <vt:lpstr>Arial</vt:lpstr>
      <vt:lpstr>Calibri</vt:lpstr>
      <vt:lpstr>Calibri Light</vt:lpstr>
      <vt:lpstr>Constantia</vt:lpstr>
      <vt:lpstr>Times New Roman</vt:lpstr>
      <vt:lpstr>Office Theme</vt:lpstr>
      <vt:lpstr> </vt:lpstr>
      <vt:lpstr>PowerPoint Presentation</vt:lpstr>
      <vt:lpstr>Thông tin vào của hệ thống thông tin</vt:lpstr>
      <vt:lpstr>Thông tin ra của hệ thống thông tin </vt:lpstr>
      <vt:lpstr>PowerPoint Presentation</vt:lpstr>
      <vt:lpstr>biểu đồ usecase quản trị viên </vt:lpstr>
      <vt:lpstr>Biểu đồ usecase của Gia sư </vt:lpstr>
      <vt:lpstr>Biểu đồ usecase của sinh viên </vt:lpstr>
      <vt:lpstr>PowerPoint Presentation</vt:lpstr>
      <vt:lpstr>PowerPoint Presentation</vt:lpstr>
      <vt:lpstr>PowerPoint Presentation</vt:lpstr>
      <vt:lpstr>Biểu đồ lớp </vt:lpstr>
      <vt:lpstr>Biểu đồ hoạt động của sinh viên </vt:lpstr>
      <vt:lpstr>Biểu đồ hoạt động của gia sư</vt:lpstr>
      <vt:lpstr>Biểu đồ hoạt động của quản trị viên </vt:lpstr>
      <vt:lpstr>Biểu đồ tuần tự</vt:lpstr>
      <vt:lpstr>THIẾT KẾ HỆ THỐNG Mô tả chi tiết cơ sở dữ liệu  </vt:lpstr>
      <vt:lpstr>Sơ đồ thực thể liên kết  </vt:lpstr>
      <vt:lpstr>CÀI ĐẶT CHƯƠNG TRÌNH</vt:lpstr>
      <vt:lpstr>Kiểm thử và mô phỏng giao diện trang chủ</vt:lpstr>
      <vt:lpstr>Giao diện đăng nhập</vt:lpstr>
      <vt:lpstr>Giao diện đăng kí tài khoản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mitclipclap1@gmail.com</dc:creator>
  <cp:lastModifiedBy>nguyn.ta04@gmail.com</cp:lastModifiedBy>
  <cp:revision>7</cp:revision>
  <dcterms:created xsi:type="dcterms:W3CDTF">2025-10-15T15:16:12Z</dcterms:created>
  <dcterms:modified xsi:type="dcterms:W3CDTF">2025-11-27T15:17:28Z</dcterms:modified>
</cp:coreProperties>
</file>